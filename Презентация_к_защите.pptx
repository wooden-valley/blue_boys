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45720"/>
          </a:xfrm>
          <a:prstGeom prst="rect">
            <a:avLst/>
          </a:prstGeom>
          <a:solidFill>
            <a:srgbClr val="6FC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E6F4EC"/>
                </a:solidFill>
                <a:latin typeface="Segoe UI"/>
              </a:rPr>
              <a:t>Instacart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Интеллектуальный клиентский аналитический сервис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E6F4EC"/>
                </a:solidFill>
                <a:latin typeface="Segoe UI"/>
              </a:rPr>
              <a:t>на данных покупательского поведения Instacart: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E6F4EC"/>
                </a:solidFill>
                <a:latin typeface="Segoe UI"/>
              </a:rPr>
              <a:t>low-code аналитика Loginom + Flask + большая языковая модель Mistral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Выполнили студенты 1 курса группы 15.27Д-ИСТ01/25б: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E6F4EC"/>
                </a:solidFill>
                <a:latin typeface="Segoe UI"/>
              </a:rPr>
              <a:t>Абакаров Магомед Шамилевич — аналитик (Loginom)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E6F4EC"/>
                </a:solidFill>
                <a:latin typeface="Segoe UI"/>
              </a:rPr>
              <a:t>Черевиченко Николай Александрович — бэкенд (Flask, интеграции)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E6F4EC"/>
                </a:solidFill>
                <a:latin typeface="Segoe UI"/>
              </a:rPr>
              <a:t>Поляков Максим Константинович — фронтенд (интерфейс, UX)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Руководитель практики: Паклин Николай Борисович        ·        Москва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Цель и 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17A45"/>
                </a:solidFill>
                <a:latin typeface="Segoe UI"/>
              </a:rPr>
              <a:t>Цель практики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1F2430"/>
                </a:solidFill>
                <a:latin typeface="Segoe UI"/>
              </a:rPr>
              <a:t>Освоить технологию разработки клиентских аналитических сервисов на основе связки low-code/no-code аналитики, веб-приложения и большой языковой модели (LLM).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17A45"/>
                </a:solidFill>
                <a:latin typeface="Segoe UI"/>
              </a:rPr>
              <a:t>Актуальность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Low-code/no-code резко сокращает путь от идеи до работающего прототипа: визуальная сборка сценариев заменяет большой объём кода.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Большие языковые модели превращают сухие числовые результаты в понятные человеку тексты и рекомендации.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Их связка — современный способ быстро создавать востребованные в IT минимально жизнеспособные продукты (MVP).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Данные и 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492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17A45"/>
                </a:solidFill>
                <a:latin typeface="Segoe UI"/>
              </a:rPr>
              <a:t>Датасет Instacart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Более 3 млн онлайн-заказов продуктов от 200 000+ клиентов.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orders — заказы (номер, день недели, час, интервал).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orders_prior — состав заказов, признак повторной покупки.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products — товары с русским названием отдела.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17A45"/>
                </a:solidFill>
                <a:latin typeface="Segoe UI"/>
              </a:rPr>
              <a:t>Задача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По идентификатору клиента (user_id) показать аналитику его покупок и сформировать понятные персональные рекомендации.</a:t>
            </a:r>
          </a:p>
        </p:txBody>
      </p:sp>
      <p:pic>
        <p:nvPicPr>
          <p:cNvPr id="8" name="Picture 7" descr="imag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58658"/>
            <a:ext cx="4480560" cy="4580764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Архитектура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606040" cy="164592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217A45"/>
                </a:solidFill>
                <a:latin typeface="Segoe UI"/>
              </a:rPr>
              <a:t>Клиент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F2430"/>
                </a:solidFill>
                <a:latin typeface="Segoe UI"/>
              </a:rPr>
              <a:t>вводит user_id
в личном кабинете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11680"/>
            <a:ext cx="301752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 i="0">
                <a:solidFill>
                  <a:srgbClr val="2E9E5B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2011680"/>
            <a:ext cx="2606040" cy="164592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217A45"/>
                </a:solidFill>
                <a:latin typeface="Segoe UI"/>
              </a:rPr>
              <a:t>Flask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F2430"/>
                </a:solidFill>
                <a:latin typeface="Segoe UI"/>
              </a:rPr>
              <a:t>маршруты, сессии,
обобщённый обработчик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2472" y="2011680"/>
            <a:ext cx="301752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 i="0">
                <a:solidFill>
                  <a:srgbClr val="2E9E5B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4224" y="2011680"/>
            <a:ext cx="2606040" cy="164592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217A45"/>
                </a:solidFill>
                <a:latin typeface="Segoe UI"/>
              </a:rPr>
              <a:t>Loginom REST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F2430"/>
                </a:solidFill>
                <a:latin typeface="Segoe UI"/>
              </a:rPr>
              <a:t>SQL по Instacart,
метрики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0264" y="2011680"/>
            <a:ext cx="301752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 i="0">
                <a:solidFill>
                  <a:srgbClr val="2E9E5B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72016" y="2011680"/>
            <a:ext cx="2606040" cy="164592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217A45"/>
                </a:solidFill>
                <a:latin typeface="Segoe UI"/>
              </a:rPr>
              <a:t>Mistral (LLM)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F2430"/>
                </a:solidFill>
                <a:latin typeface="Segoe UI"/>
              </a:rPr>
              <a:t>рекомендация
по промпту сервиса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Кэширование ответов LLM на диске — повторные запросы не идут в модель повторно.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Согласованный контракт: имя сервиса и имена колонок Loginom = ожидания приложения.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Публикация в облаке Amvera: порт из переменной окружения, секреты — через окружение.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Аналитические сервисы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09728"/>
            <a:ext cx="21945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показать пользу клиенту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61264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17A45"/>
                </a:solidFill>
                <a:latin typeface="Segoe UI"/>
              </a:rPr>
              <a:t>Пять сервисов в едином кабинете: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Топ-10 товаров — что клиент покупает чаще всего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Забытые товары — привычное, чего давно не было в заказах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Ритм покупок — как часто и когда клиент заказывает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Сводка по клиенту — ключевые метрики поведения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Отделы и категории — из чего состоит корзина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</a:rPr>
              <a:t>4 опубликованы как REST-сервисы Loginom, 1 считается в приложении.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217A45"/>
                </a:solidFill>
                <a:latin typeface="Segoe UI"/>
              </a:rPr>
              <a:t>2 сервиса — самостоятельные идеи команды.</a:t>
            </a:r>
          </a:p>
        </p:txBody>
      </p:sp>
      <p:pic>
        <p:nvPicPr>
          <p:cNvPr id="9" name="Picture 8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331113"/>
            <a:ext cx="4846320" cy="2835854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Интерфейс и UX-решения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09728"/>
            <a:ext cx="21945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показать интерфейс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17A45"/>
                </a:solidFill>
                <a:latin typeface="Segoe UI"/>
              </a:rPr>
              <a:t>Многостраничный кабинет: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Кабинет · Мои покупки · Аналитика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Вход по user_id, единый сценарий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Диаграммы Chart.js (столбцы, кольцо)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Баннер, сгенерированный нейросетью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Индикатор «из кэша» и время ответа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Единый стиль: палитра, шрифты, карточки</a:t>
            </a:r>
          </a:p>
        </p:txBody>
      </p:sp>
      <p:pic>
        <p:nvPicPr>
          <p:cNvPr id="9" name="Picture 8" descr="imag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192060"/>
            <a:ext cx="6400800" cy="32054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Результат сервиса: числа + визуализация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Клиент видит таблицу, диаграмму и текстовую интерпретацию на одном экране.</a:t>
            </a:r>
          </a:p>
        </p:txBody>
      </p:sp>
      <p:pic>
        <p:nvPicPr>
          <p:cNvPr id="8" name="Picture 7" descr="imag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065437"/>
            <a:ext cx="7772400" cy="4098726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Языковая модель и логика рекомендаций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09728"/>
            <a:ext cx="21945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показать работу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1206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Mistral large через библиотеку LangChain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Низкая «температура» (0.3) — стабильные ответы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Свой промпт под каждый сервис, обращение к клиенту на «вы»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Метрики Loginom → человекочитаемый текст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Пустой результат не отправляется в модель — экономия токенов</a:t>
            </a:r>
          </a:p>
        </p:txBody>
      </p:sp>
      <p:pic>
        <p:nvPicPr>
          <p:cNvPr id="9" name="Picture 8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336292"/>
            <a:ext cx="5852160" cy="2916936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Кэширование ответов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09728"/>
            <a:ext cx="21945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показать работу кэша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492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Ключ кэша — SHA-256 от (сервис + user_id + данные)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Хранение на диске: переживает перезагрузку модуля бизнес-логики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Повторный запрос берётся из кэша, не обращаясь к модели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•  В интерфейсе — бейдж «из кэша» / «новый запрос» и время ответа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737360"/>
            <a:ext cx="4206240" cy="123444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7A45"/>
                </a:solidFill>
                <a:latin typeface="Segoe UI"/>
              </a:rPr>
              <a:t>~4,3 с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первый запрос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227832"/>
            <a:ext cx="4206240" cy="123444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7A45"/>
                </a:solidFill>
                <a:latin typeface="Segoe UI"/>
              </a:rPr>
              <a:t>~10 мс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повтор из кэша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4718304"/>
            <a:ext cx="4206240" cy="123444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7A45"/>
                </a:solidFill>
                <a:latin typeface="Segoe UI"/>
              </a:rPr>
              <a:t>&gt;300×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ускорение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Обоснование ценности: How Might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Состав сервисов обоснован методом дизайн-мышления How Might We — каждую проблему клиента формулируем как вопрос-возможность.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10881360" cy="914400"/>
          </a:xfrm>
          <a:prstGeom prst="rect">
            <a:avLst/>
          </a:prstGeom>
          <a:solidFill>
            <a:srgbClr val="E6F4EC"/>
          </a:solidFill>
          <a:ln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600" b="1" i="1">
                <a:solidFill>
                  <a:srgbClr val="217A45"/>
                </a:solidFill>
                <a:latin typeface="Segoe UI"/>
              </a:rPr>
              <a:t>«Как мы могли бы превратить обезличенные числовые данные о покупках в понятную и полезную клиенту информацию прямо в личном кабинете?»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430"/>
                </a:solidFill>
                <a:latin typeface="Segoe UI"/>
              </a:rPr>
              <a:t>Каждый сервис — ответ на частный HMW-вопрос: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430"/>
                </a:solidFill>
                <a:latin typeface="Segoe UI"/>
              </a:rPr>
              <a:t>•  …напомнить о забытых привычных товарах?  → Забытые товары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430"/>
                </a:solidFill>
                <a:latin typeface="Segoe UI"/>
              </a:rPr>
              <a:t>•  …подсказать, когда снова понадобится заказ?  → Ритм покупок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430"/>
                </a:solidFill>
                <a:latin typeface="Segoe UI"/>
              </a:rPr>
              <a:t>•  …дать наглядный портрет поведения одним экраном?  → Сводка по клиенту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430"/>
                </a:solidFill>
                <a:latin typeface="Segoe UI"/>
              </a:rPr>
              <a:t>•  …показать, покупатель какого типа клиент?  → Отделы и категории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Вклад команды и итоги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09728"/>
            <a:ext cx="21945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вклад участников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Учебная (ознакомительная) практика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743200"/>
                <a:gridCol w="557784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Участник</a:t>
                      </a:r>
                    </a:p>
                  </a:txBody>
                  <a:tcPr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Роль</a:t>
                      </a:r>
                    </a:p>
                  </a:txBody>
                  <a:tcPr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Вклад</a:t>
                      </a:r>
                    </a:p>
                  </a:txBody>
                  <a:tcPr>
                    <a:solidFill>
                      <a:srgbClr val="2E9E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430"/>
                          </a:solidFill>
                          <a:latin typeface="Segoe UI"/>
                        </a:rPr>
                        <a:t>Абакаров М.Ш.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Аналитик / Loginom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Сервисы, SQL, публикация REST, промпты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430"/>
                          </a:solidFill>
                          <a:latin typeface="Segoe UI"/>
                        </a:rPr>
                        <a:t>Черевиченко Н.А.</a:t>
                      </a:r>
                    </a:p>
                  </a:txBody>
                  <a:tcPr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Бэкенд / Flask</a:t>
                      </a:r>
                    </a:p>
                  </a:txBody>
                  <a:tcPr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Приложение, интеграции, кэш, тесты, деплой</a:t>
                      </a:r>
                    </a:p>
                  </a:txBody>
                  <a:tcPr>
                    <a:solidFill>
                      <a:srgbClr val="F3F7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430"/>
                          </a:solidFill>
                          <a:latin typeface="Segoe UI"/>
                        </a:rPr>
                        <a:t>Поляков М.К.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Фронтенд / 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430"/>
                          </a:solidFill>
                          <a:latin typeface="Segoe UI"/>
                        </a:rPr>
                        <a:t>Интерфейс, навигация, Chart.js, стиль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8620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17A45"/>
                </a:solidFill>
                <a:latin typeface="Segoe UI"/>
              </a:rPr>
              <a:t>Итоги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Собран рабочий MVP: 5 аналитических сервисов + многостраничный кабинет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Связка «аналитика Loginom → метрики → рекомендации Mistral» с кэшем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25 автоматических тестов (все проходят) и ручная проверка сценариев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430"/>
                </a:solidFill>
                <a:latin typeface="Segoe UI"/>
              </a:rPr>
              <a:t>•  Приложение развёрнуто в облаке Amvera. Задачи практики выполнены полностью.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к защите практики</dc:title>
  <dc:subject/>
  <dc:creator>Черевиченко Николай Александрович</dc:creator>
  <cp:keywords/>
  <dc:description/>
  <cp:lastModifiedBy>Черевиченко Николай Александрович</cp:lastModifiedBy>
  <cp:revision>1</cp:revision>
  <dcterms:created xsi:type="dcterms:W3CDTF">2026-07-10T09:00:00Z</dcterms:created>
  <dcterms:modified xsi:type="dcterms:W3CDTF">2026-07-10T09:00:00Z</dcterms:modified>
  <cp:category/>
</cp:coreProperties>
</file>