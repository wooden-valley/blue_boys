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874519"/>
            <a:ext cx="1280160" cy="76200"/>
          </a:xfrm>
          <a:prstGeom prst="rect">
            <a:avLst/>
          </a:prstGeom>
          <a:solidFill>
            <a:srgbClr val="6FC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6FCE97"/>
                </a:solidFill>
                <a:latin typeface="Segoe UI"/>
              </a:rPr>
              <a:t>INSTACART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4200" b="1" i="0">
                <a:solidFill>
                  <a:srgbClr val="FFFFFF"/>
                </a:solidFill>
                <a:latin typeface="Segoe UI"/>
              </a:rPr>
              <a:t>Покупатель тонет в рутине.
Магазин теряет клиента.</a:t>
            </a:r>
          </a:p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B8C4BC"/>
                </a:solidFill>
                <a:latin typeface="Segoe UI"/>
              </a:rPr>
              <a:t>Мы решаем обе проблемы одним умным сервисом.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6235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B8C4BC"/>
                </a:solidFill>
                <a:latin typeface="Segoe UI"/>
              </a:rPr>
              <a:t>Абакаров М.Ш.  ·  Черевиченко Н.А.  ·  Поляков М.К.    |    группа 15.27Д-ИСТ01/25б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21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11556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E6F4EC"/>
                </a:solidFill>
                <a:latin typeface="Segoe UI"/>
              </a:rPr>
              <a:t>ПРОБЛЕМА · ЧАСТЬ 1</a:t>
            </a:r>
          </a:p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Данные о покупках есть — а пользы клиенту нет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3611880" cy="3108960"/>
          </a:xfrm>
          <a:prstGeom prst="roundRect">
            <a:avLst/>
          </a:prstGeom>
          <a:solidFill>
            <a:srgbClr val="F3F7F4"/>
          </a:solidFill>
          <a:ln w="15875">
            <a:solidFill>
              <a:srgbClr val="6FCE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20040"/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2E9E5B"/>
                </a:solidFill>
                <a:latin typeface="Segoe UI"/>
              </a:rPr>
              <a:t>Забывают привычное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</a:rPr>
              <a:t>Регулярные товары выпадают из заказа — о них никто не напомнит.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07992" y="1600200"/>
            <a:ext cx="3611880" cy="3108960"/>
          </a:xfrm>
          <a:prstGeom prst="roundRect">
            <a:avLst/>
          </a:prstGeom>
          <a:solidFill>
            <a:srgbClr val="F3F7F4"/>
          </a:solidFill>
          <a:ln w="15875">
            <a:solidFill>
              <a:srgbClr val="6FCE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20040"/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2E9E5B"/>
                </a:solidFill>
                <a:latin typeface="Segoe UI"/>
              </a:rPr>
              <a:t>Тонут в списках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</a:rPr>
              <a:t>Сотни позиций в истории и ноль подсказок, что с этим делать.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67344" y="1600200"/>
            <a:ext cx="3611880" cy="3108960"/>
          </a:xfrm>
          <a:prstGeom prst="roundRect">
            <a:avLst/>
          </a:prstGeom>
          <a:solidFill>
            <a:srgbClr val="F3F7F4"/>
          </a:solidFill>
          <a:ln w="15875">
            <a:solidFill>
              <a:srgbClr val="6FCE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20040"/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2E9E5B"/>
                </a:solidFill>
                <a:latin typeface="Segoe UI"/>
              </a:rPr>
              <a:t>Не планируют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</a:rPr>
              <a:t>Клиент не знает, когда ему снова пора оформить заказ.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1F2430"/>
                </a:solidFill>
                <a:latin typeface="Segoe UI"/>
              </a:rPr>
              <a:t>Всю работу клиент делает сам — а сервис, у которого есть вся история заказов, молчит.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B7280"/>
                </a:solidFill>
                <a:latin typeface="Segoe UI"/>
              </a:rPr>
              <a:t>Instacart Insights · РЭУ им. Г.В. Плеханова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37376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 i="0">
                <a:solidFill>
                  <a:srgbClr val="6B7280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6FCE97"/>
                </a:solidFill>
                <a:latin typeface="Segoe UI"/>
              </a:rPr>
              <a:t>ПРОБЛЕМА · ЧАСТЬ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Гигабайты истории заказов лежат мёртвым грузом</a:t>
            </a:r>
          </a:p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B8C4BC"/>
                </a:solidFill>
                <a:latin typeface="Segoe UI"/>
              </a:rPr>
              <a:t>Без персонализации магазин недозарабатывает на каждом клиенте.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749039"/>
            <a:ext cx="3520440" cy="1737360"/>
          </a:xfrm>
          <a:prstGeom prst="roundRect">
            <a:avLst/>
          </a:prstGeom>
          <a:solidFill>
            <a:srgbClr val="232B25"/>
          </a:solidFill>
          <a:ln w="127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6FCE97"/>
                </a:solidFill>
                <a:latin typeface="Segoe UI"/>
              </a:rPr>
              <a:t>↓ заказов</a:t>
            </a:r>
          </a:p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B8C4BC"/>
                </a:solidFill>
                <a:latin typeface="Segoe UI"/>
              </a:rPr>
              <a:t>меньше повторных покупок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90872" y="3749039"/>
            <a:ext cx="3520440" cy="1737360"/>
          </a:xfrm>
          <a:prstGeom prst="roundRect">
            <a:avLst/>
          </a:prstGeom>
          <a:solidFill>
            <a:srgbClr val="232B25"/>
          </a:solidFill>
          <a:ln w="127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6FCE97"/>
                </a:solidFill>
                <a:latin typeface="Segoe UI"/>
              </a:rPr>
              <a:t>↓ лояльность</a:t>
            </a:r>
          </a:p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B8C4BC"/>
                </a:solidFill>
                <a:latin typeface="Segoe UI"/>
              </a:rPr>
              <a:t>клиент не чувствует заботы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58784" y="3749039"/>
            <a:ext cx="3520440" cy="1737360"/>
          </a:xfrm>
          <a:prstGeom prst="roundRect">
            <a:avLst/>
          </a:prstGeom>
          <a:solidFill>
            <a:srgbClr val="232B25"/>
          </a:solidFill>
          <a:ln w="127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6FCE97"/>
                </a:solidFill>
                <a:latin typeface="Segoe UI"/>
              </a:rPr>
              <a:t>↑ отток</a:t>
            </a:r>
          </a:p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B8C4BC"/>
                </a:solidFill>
                <a:latin typeface="Segoe UI"/>
              </a:rPr>
              <a:t>уходит к тем, кто удобнее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3737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B8C4BC"/>
                </a:solidFill>
                <a:latin typeface="Segoe UI"/>
              </a:rPr>
              <a:t>Instacart Insights · РЭУ им. Г.В. Плеханова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37376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 i="0">
                <a:solidFill>
                  <a:srgbClr val="B8C4BC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874519"/>
            <a:ext cx="1280160" cy="76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РЕШЕНИЕ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</a:rPr>
              <a:t>Личный ИИ-аналитик покупок</a:t>
            </a:r>
          </a:p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E6F4EC"/>
                </a:solidFill>
                <a:latin typeface="Segoe UI"/>
              </a:rPr>
              <a:t>По одному user_id — понятная аналитика и дружелюбные советы клиенту прямо в кабинете.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212080"/>
            <a:ext cx="2377440" cy="640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E9E5B"/>
                </a:solidFill>
                <a:latin typeface="Segoe UI"/>
              </a:rPr>
              <a:t>Понятно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5212080"/>
            <a:ext cx="2377440" cy="640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E9E5B"/>
                </a:solidFill>
                <a:latin typeface="Segoe UI"/>
              </a:rPr>
              <a:t>Персонально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5212080"/>
            <a:ext cx="2377440" cy="640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E9E5B"/>
                </a:solidFill>
                <a:latin typeface="Segoe UI"/>
              </a:rPr>
              <a:t>Мгновенно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21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11556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E6F4EC"/>
                </a:solidFill>
                <a:latin typeface="Segoe UI"/>
              </a:rPr>
              <a:t>СУТЬ</a:t>
            </a:r>
          </a:p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Почему это возможно так быстро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2514600" cy="1737360"/>
          </a:xfrm>
          <a:prstGeom prst="roundRect">
            <a:avLst/>
          </a:prstGeom>
          <a:solidFill>
            <a:srgbClr val="E6F4EC"/>
          </a:solidFill>
          <a:ln w="127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2E9E5B"/>
                </a:solidFill>
                <a:latin typeface="Segoe UI"/>
              </a:rPr>
              <a:t>Loginom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F2430"/>
                </a:solidFill>
                <a:latin typeface="Segoe UI"/>
              </a:rPr>
              <a:t>аналитика
без кода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1737360"/>
            <a:ext cx="274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 b="0" i="0">
                <a:solidFill>
                  <a:srgbClr val="2E9E5B"/>
                </a:solidFill>
                <a:latin typeface="Segoe U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737360"/>
            <a:ext cx="2514600" cy="1737360"/>
          </a:xfrm>
          <a:prstGeom prst="roundRect">
            <a:avLst/>
          </a:prstGeom>
          <a:solidFill>
            <a:srgbClr val="E6F4EC"/>
          </a:solidFill>
          <a:ln w="127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2E9E5B"/>
                </a:solidFill>
                <a:latin typeface="Segoe UI"/>
              </a:rPr>
              <a:t>Flask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F2430"/>
                </a:solidFill>
                <a:latin typeface="Segoe UI"/>
              </a:rPr>
              <a:t>лёгкое
веб-приложение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737360"/>
            <a:ext cx="274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 b="0" i="0">
                <a:solidFill>
                  <a:srgbClr val="2E9E5B"/>
                </a:solidFill>
                <a:latin typeface="Segoe U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2514600" cy="1737360"/>
          </a:xfrm>
          <a:prstGeom prst="roundRect">
            <a:avLst/>
          </a:prstGeom>
          <a:solidFill>
            <a:srgbClr val="E6F4EC"/>
          </a:solidFill>
          <a:ln w="127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2E9E5B"/>
                </a:solidFill>
                <a:latin typeface="Segoe UI"/>
              </a:rPr>
              <a:t>Mistral (ИИ)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F2430"/>
                </a:solidFill>
                <a:latin typeface="Segoe UI"/>
              </a:rPr>
              <a:t>советы
человеческим языком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1737360"/>
            <a:ext cx="274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 b="0" i="0">
                <a:solidFill>
                  <a:srgbClr val="2E9E5B"/>
                </a:solidFill>
                <a:latin typeface="Segoe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1737360"/>
            <a:ext cx="2514600" cy="1737360"/>
          </a:xfrm>
          <a:prstGeom prst="roundRect">
            <a:avLst/>
          </a:prstGeom>
          <a:solidFill>
            <a:srgbClr val="E6F4EC"/>
          </a:solidFill>
          <a:ln w="127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2E9E5B"/>
                </a:solidFill>
                <a:latin typeface="Segoe UI"/>
              </a:rPr>
              <a:t>Кэш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F2430"/>
                </a:solidFill>
                <a:latin typeface="Segoe UI"/>
              </a:rPr>
              <a:t>мгновенный
повтор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114800"/>
            <a:ext cx="10881360" cy="1371600"/>
          </a:xfrm>
          <a:prstGeom prst="roundRect">
            <a:avLst/>
          </a:prstGeom>
          <a:solidFill>
            <a:srgbClr val="112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Рабочий MVP собран за 2 недели — без тяжёлой разработки и большой команды.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3737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B7280"/>
                </a:solidFill>
                <a:latin typeface="Segoe UI"/>
              </a:rPr>
              <a:t>Instacart Insights · РЭУ им. Г.В. Плеханова ·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37376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 i="0">
                <a:solidFill>
                  <a:srgbClr val="6B7280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21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11556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E6F4EC"/>
                </a:solidFill>
                <a:latin typeface="Segoe UI"/>
              </a:rPr>
              <a:t>КАК РАБОТАЕТ · 1</a:t>
            </a:r>
          </a:p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Что получает клиент — 5 сервисов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9436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600" b="1" i="0">
                <a:solidFill>
                  <a:srgbClr val="2E9E5B"/>
                </a:solidFill>
                <a:latin typeface="Segoe UI"/>
              </a:rPr>
              <a:t>●  Топ-10 товаров — </a:t>
            </a:r>
            <a:r>
              <a:rPr sz="1500" b="0" i="0">
                <a:solidFill>
                  <a:srgbClr val="1F2430"/>
                </a:solidFill>
                <a:latin typeface="Segoe UI"/>
              </a:rPr>
              <a:t>любимое клиента + персональный совет</a:t>
            </a:r>
          </a:p>
          <a:p>
            <a:pPr>
              <a:spcAft>
                <a:spcPts val="1100"/>
              </a:spcAft>
            </a:pPr>
            <a:r>
              <a:rPr sz="1600" b="1" i="0">
                <a:solidFill>
                  <a:srgbClr val="2E9E5B"/>
                </a:solidFill>
                <a:latin typeface="Segoe UI"/>
              </a:rPr>
              <a:t>●  Забытые товары — </a:t>
            </a:r>
            <a:r>
              <a:rPr sz="1500" b="0" i="0">
                <a:solidFill>
                  <a:srgbClr val="1F2430"/>
                </a:solidFill>
                <a:latin typeface="Segoe UI"/>
              </a:rPr>
              <a:t>напомним о привычном, что выпало из заказов</a:t>
            </a:r>
          </a:p>
          <a:p>
            <a:pPr>
              <a:spcAft>
                <a:spcPts val="1100"/>
              </a:spcAft>
            </a:pPr>
            <a:r>
              <a:rPr sz="1600" b="1" i="0">
                <a:solidFill>
                  <a:srgbClr val="2E9E5B"/>
                </a:solidFill>
                <a:latin typeface="Segoe UI"/>
              </a:rPr>
              <a:t>●  Ритм покупок — </a:t>
            </a:r>
            <a:r>
              <a:rPr sz="1500" b="0" i="0">
                <a:solidFill>
                  <a:srgbClr val="1F2430"/>
                </a:solidFill>
                <a:latin typeface="Segoe UI"/>
              </a:rPr>
              <a:t>когда клиенту снова пора оформить заказ</a:t>
            </a:r>
          </a:p>
          <a:p>
            <a:pPr>
              <a:spcAft>
                <a:spcPts val="1100"/>
              </a:spcAft>
            </a:pPr>
            <a:r>
              <a:rPr sz="1600" b="1" i="0">
                <a:solidFill>
                  <a:srgbClr val="2E9E5B"/>
                </a:solidFill>
                <a:latin typeface="Segoe UI"/>
              </a:rPr>
              <a:t>●  Сводка по клиенту — </a:t>
            </a:r>
            <a:r>
              <a:rPr sz="1500" b="0" i="0">
                <a:solidFill>
                  <a:srgbClr val="1F2430"/>
                </a:solidFill>
                <a:latin typeface="Segoe UI"/>
              </a:rPr>
              <a:t>портрет поведения одним экраном</a:t>
            </a:r>
          </a:p>
          <a:p>
            <a:pPr>
              <a:spcAft>
                <a:spcPts val="1100"/>
              </a:spcAft>
            </a:pPr>
            <a:r>
              <a:rPr sz="1600" b="1" i="0">
                <a:solidFill>
                  <a:srgbClr val="2E9E5B"/>
                </a:solidFill>
                <a:latin typeface="Segoe UI"/>
              </a:rPr>
              <a:t>●  Отделы и категории — </a:t>
            </a:r>
            <a:r>
              <a:rPr sz="1500" b="0" i="0">
                <a:solidFill>
                  <a:srgbClr val="1F2430"/>
                </a:solidFill>
                <a:latin typeface="Segoe UI"/>
              </a:rPr>
              <a:t>из чего состоит корзина</a:t>
            </a:r>
          </a:p>
        </p:txBody>
      </p:sp>
      <p:pic>
        <p:nvPicPr>
          <p:cNvPr id="6" name="Picture 5" descr="image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1446" y="1417320"/>
            <a:ext cx="4650867" cy="4754880"/>
          </a:xfrm>
          <a:prstGeom prst="rect">
            <a:avLst/>
          </a:prstGeom>
          <a:ln w="12700">
            <a:solidFill>
              <a:srgbClr val="D0D5DD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57200" y="643737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B7280"/>
                </a:solidFill>
                <a:latin typeface="Segoe UI"/>
              </a:rPr>
              <a:t>Instacart Insights · РЭУ им. Г.В. Плеханова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37376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 i="0">
                <a:solidFill>
                  <a:srgbClr val="6B7280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21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11556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E6F4EC"/>
                </a:solidFill>
                <a:latin typeface="Segoe UI"/>
              </a:rPr>
              <a:t>КАК РАБОТАЕТ · 2</a:t>
            </a:r>
          </a:p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Один экран — вся аналитика</a:t>
            </a:r>
          </a:p>
        </p:txBody>
      </p:sp>
      <p:pic>
        <p:nvPicPr>
          <p:cNvPr id="5" name="Picture 4" descr="image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677" y="1417320"/>
            <a:ext cx="8034166" cy="4023360"/>
          </a:xfrm>
          <a:prstGeom prst="rect">
            <a:avLst/>
          </a:prstGeom>
          <a:ln w="12700">
            <a:solidFill>
              <a:srgbClr val="D0D5DD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" y="56235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</a:rPr>
              <a:t>Вход по user_id · навигация по разделам · диаграммы Chart.js · всё в едином стиле.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B7280"/>
                </a:solidFill>
                <a:latin typeface="Segoe UI"/>
              </a:rPr>
              <a:t>Instacart Insights · РЭУ им. Г.В. Плеханова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37376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 i="0">
                <a:solidFill>
                  <a:srgbClr val="6B7280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21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11556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E6F4EC"/>
                </a:solidFill>
                <a:latin typeface="Segoe UI"/>
              </a:rPr>
              <a:t>КАК РАБОТАЕТ · 3</a:t>
            </a:r>
          </a:p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Числа, график и совет — вместе</a:t>
            </a:r>
          </a:p>
        </p:txBody>
      </p:sp>
      <p:pic>
        <p:nvPicPr>
          <p:cNvPr id="5" name="Picture 4" descr="image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1750397"/>
            <a:ext cx="7406640" cy="3905845"/>
          </a:xfrm>
          <a:prstGeom prst="rect">
            <a:avLst/>
          </a:prstGeom>
          <a:ln w="12700">
            <a:solidFill>
              <a:srgbClr val="D0D5DD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457200" y="643737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B7280"/>
                </a:solidFill>
                <a:latin typeface="Segoe UI"/>
              </a:rPr>
              <a:t>Instacart Insights · РЭУ им. Г.В. Плеханова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37376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 i="0">
                <a:solidFill>
                  <a:srgbClr val="6B7280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21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11556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E6F4EC"/>
                </a:solidFill>
                <a:latin typeface="Segoe UI"/>
              </a:rPr>
              <a:t>КАК РАБОТАЕТ · 4</a:t>
            </a:r>
          </a:p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ИИ объясняет данные человеческим языком</a:t>
            </a:r>
          </a:p>
        </p:txBody>
      </p:sp>
      <p:pic>
        <p:nvPicPr>
          <p:cNvPr id="5" name="Picture 4" descr="image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53841"/>
            <a:ext cx="6400800" cy="3190398"/>
          </a:xfrm>
          <a:prstGeom prst="rect">
            <a:avLst/>
          </a:prstGeom>
          <a:ln w="12700">
            <a:solidFill>
              <a:srgbClr val="D0D5DD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7406640" y="1691640"/>
            <a:ext cx="4206240" cy="1234440"/>
          </a:xfrm>
          <a:prstGeom prst="roundRect">
            <a:avLst/>
          </a:prstGeom>
          <a:solidFill>
            <a:srgbClr val="E6F4EC"/>
          </a:solidFill>
          <a:ln w="127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2E9E5B"/>
                </a:solidFill>
                <a:latin typeface="Segoe UI"/>
              </a:rPr>
              <a:t>×300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Segoe UI"/>
              </a:rPr>
              <a:t>быстрее по кэшу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3163824"/>
            <a:ext cx="4206240" cy="1234440"/>
          </a:xfrm>
          <a:prstGeom prst="roundRect">
            <a:avLst/>
          </a:prstGeom>
          <a:solidFill>
            <a:srgbClr val="E6F4EC"/>
          </a:solidFill>
          <a:ln w="127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2E9E5B"/>
                </a:solidFill>
                <a:latin typeface="Segoe UI"/>
              </a:rPr>
              <a:t>~10 мс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Segoe UI"/>
              </a:rPr>
              <a:t>повторный ответ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4636008"/>
            <a:ext cx="4206240" cy="1234440"/>
          </a:xfrm>
          <a:prstGeom prst="roundRect">
            <a:avLst/>
          </a:prstGeom>
          <a:solidFill>
            <a:srgbClr val="E6F4EC"/>
          </a:solidFill>
          <a:ln w="127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2E9E5B"/>
                </a:solidFill>
                <a:latin typeface="Segoe UI"/>
              </a:rPr>
              <a:t>0.3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Segoe UI"/>
              </a:rPr>
              <a:t>температура — стабильно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B7280"/>
                </a:solidFill>
                <a:latin typeface="Segoe UI"/>
              </a:rPr>
              <a:t>Instacart Insights · РЭУ им. Г.В. Плеханова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37376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 i="0">
                <a:solidFill>
                  <a:srgbClr val="6B7280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874519"/>
            <a:ext cx="1280160" cy="76200"/>
          </a:xfrm>
          <a:prstGeom prst="rect">
            <a:avLst/>
          </a:prstGeom>
          <a:solidFill>
            <a:srgbClr val="6FC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6FCE97"/>
                </a:solidFill>
                <a:latin typeface="Segoe UI"/>
              </a:rPr>
              <a:t>ЭТО ТОЛЬКО НАЧАЛО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4200" b="1" i="0">
                <a:solidFill>
                  <a:srgbClr val="FFFFFF"/>
                </a:solidFill>
                <a:latin typeface="Segoe UI"/>
              </a:rPr>
              <a:t>Сегодня — Instacart.
Завтра — любой ретейл.</a:t>
            </a:r>
          </a:p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B8C4BC"/>
                </a:solidFill>
                <a:latin typeface="Segoe UI"/>
              </a:rPr>
              <a:t>Новые сервисы, персонализация на реальных пользователях, проверка HMW-гипотез.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212080"/>
            <a:ext cx="2286000" cy="914400"/>
          </a:xfrm>
          <a:prstGeom prst="roundRect">
            <a:avLst/>
          </a:prstGeom>
          <a:solidFill>
            <a:srgbClr val="1C3B2A"/>
          </a:solidFill>
          <a:ln w="127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6FCE97"/>
                </a:solidFill>
                <a:latin typeface="Segoe UI"/>
              </a:rPr>
              <a:t>5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B8C4BC"/>
                </a:solidFill>
                <a:latin typeface="Segoe UI"/>
              </a:rPr>
              <a:t>сервисов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5212080"/>
            <a:ext cx="2286000" cy="914400"/>
          </a:xfrm>
          <a:prstGeom prst="roundRect">
            <a:avLst/>
          </a:prstGeom>
          <a:solidFill>
            <a:srgbClr val="1C3B2A"/>
          </a:solidFill>
          <a:ln w="127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6FCE97"/>
                </a:solidFill>
                <a:latin typeface="Segoe UI"/>
              </a:rPr>
              <a:t>25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B8C4BC"/>
                </a:solidFill>
                <a:latin typeface="Segoe UI"/>
              </a:rPr>
              <a:t>тестов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5212080"/>
            <a:ext cx="2286000" cy="914400"/>
          </a:xfrm>
          <a:prstGeom prst="roundRect">
            <a:avLst/>
          </a:prstGeom>
          <a:solidFill>
            <a:srgbClr val="1C3B2A"/>
          </a:solidFill>
          <a:ln w="127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6FCE97"/>
                </a:solidFill>
                <a:latin typeface="Segoe UI"/>
              </a:rPr>
              <a:t>2 нед.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B8C4BC"/>
                </a:solidFill>
                <a:latin typeface="Segoe UI"/>
              </a:rPr>
              <a:t>до MVP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6949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ПОПРОБУЙТЕ ПРЯМО СЕЙЧАС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67665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Наведите камеру —
и откройте живое приложение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E6F4EC"/>
                </a:solidFill>
                <a:latin typeface="Segoe UI"/>
              </a:rPr>
              <a:t>practica2-gekyme.amvera.io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67665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Спасибо за внимание!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6F4EC"/>
                </a:solidFill>
                <a:latin typeface="Segoe UI"/>
              </a:rPr>
              <a:t>Абакаров · Черевиченко · Поляков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645920"/>
            <a:ext cx="3108960" cy="3291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874519"/>
            <a:ext cx="2560320" cy="2560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0" y="4389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</a:rPr>
              <a:t>Живое приложение в облаке Amvera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к защите практики</dc:title>
  <dc:subject/>
  <dc:creator>Черевиченко Николай Александрович</dc:creator>
  <cp:keywords/>
  <dc:description/>
  <cp:lastModifiedBy>Черевиченко Николай Александрович</cp:lastModifiedBy>
  <cp:revision>1</cp:revision>
  <dcterms:created xsi:type="dcterms:W3CDTF">2026-07-10T09:00:00Z</dcterms:created>
  <dcterms:modified xsi:type="dcterms:W3CDTF">2026-07-10T09:00:00Z</dcterms:modified>
  <cp:category/>
</cp:coreProperties>
</file>